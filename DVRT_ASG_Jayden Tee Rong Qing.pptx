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Maragsa" charset="1" panose="00000000000000000000"/>
      <p:regular r:id="rId18"/>
    </p:embeddedFont>
    <p:embeddedFont>
      <p:font typeface="Agrandir" charset="1" panose="00000500000000000000"/>
      <p:regular r:id="rId19"/>
    </p:embeddedFont>
    <p:embeddedFont>
      <p:font typeface="Agrandir Bold" charset="1" panose="000008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9.png" Type="http://schemas.openxmlformats.org/officeDocument/2006/relationships/image"/><Relationship Id="rId5" Target="../media/image10.png" Type="http://schemas.openxmlformats.org/officeDocument/2006/relationships/image"/><Relationship Id="rId6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8.svg" Type="http://schemas.openxmlformats.org/officeDocument/2006/relationships/image"/><Relationship Id="rId2" Target="../media/image12.jpeg" Type="http://schemas.openxmlformats.org/officeDocument/2006/relationships/image"/><Relationship Id="rId3" Target="../media/image13.jpe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4.jpeg" Type="http://schemas.openxmlformats.org/officeDocument/2006/relationships/image"/><Relationship Id="rId7" Target="../media/image15.png" Type="http://schemas.openxmlformats.org/officeDocument/2006/relationships/image"/><Relationship Id="rId8" Target="../media/image16.svg" Type="http://schemas.openxmlformats.org/officeDocument/2006/relationships/image"/><Relationship Id="rId9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21.png" Type="http://schemas.openxmlformats.org/officeDocument/2006/relationships/image"/><Relationship Id="rId7" Target="../media/image2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27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8.png" Type="http://schemas.openxmlformats.org/officeDocument/2006/relationships/image"/><Relationship Id="rId3" Target="../media/image29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513692" y="2352711"/>
            <a:ext cx="7260615" cy="2597943"/>
            <a:chOff x="0" y="0"/>
            <a:chExt cx="1912261" cy="684232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912261" cy="684232"/>
            </a:xfrm>
            <a:custGeom>
              <a:avLst/>
              <a:gdLst/>
              <a:ahLst/>
              <a:cxnLst/>
              <a:rect r="r" b="b" t="t" l="l"/>
              <a:pathLst>
                <a:path h="684232" w="1912261">
                  <a:moveTo>
                    <a:pt x="54381" y="0"/>
                  </a:moveTo>
                  <a:lnTo>
                    <a:pt x="1857880" y="0"/>
                  </a:lnTo>
                  <a:cubicBezTo>
                    <a:pt x="1872303" y="0"/>
                    <a:pt x="1886135" y="5729"/>
                    <a:pt x="1896333" y="15928"/>
                  </a:cubicBezTo>
                  <a:cubicBezTo>
                    <a:pt x="1906531" y="26126"/>
                    <a:pt x="1912261" y="39958"/>
                    <a:pt x="1912261" y="54381"/>
                  </a:cubicBezTo>
                  <a:lnTo>
                    <a:pt x="1912261" y="629851"/>
                  </a:lnTo>
                  <a:cubicBezTo>
                    <a:pt x="1912261" y="644274"/>
                    <a:pt x="1906531" y="658106"/>
                    <a:pt x="1896333" y="668304"/>
                  </a:cubicBezTo>
                  <a:cubicBezTo>
                    <a:pt x="1886135" y="678502"/>
                    <a:pt x="1872303" y="684232"/>
                    <a:pt x="1857880" y="684232"/>
                  </a:cubicBezTo>
                  <a:lnTo>
                    <a:pt x="54381" y="684232"/>
                  </a:lnTo>
                  <a:cubicBezTo>
                    <a:pt x="39958" y="684232"/>
                    <a:pt x="26126" y="678502"/>
                    <a:pt x="15928" y="668304"/>
                  </a:cubicBezTo>
                  <a:cubicBezTo>
                    <a:pt x="5729" y="658106"/>
                    <a:pt x="0" y="644274"/>
                    <a:pt x="0" y="629851"/>
                  </a:cubicBezTo>
                  <a:lnTo>
                    <a:pt x="0" y="54381"/>
                  </a:lnTo>
                  <a:cubicBezTo>
                    <a:pt x="0" y="39958"/>
                    <a:pt x="5729" y="26126"/>
                    <a:pt x="15928" y="15928"/>
                  </a:cubicBezTo>
                  <a:cubicBezTo>
                    <a:pt x="26126" y="5729"/>
                    <a:pt x="39958" y="0"/>
                    <a:pt x="54381" y="0"/>
                  </a:cubicBezTo>
                  <a:close/>
                </a:path>
              </a:pathLst>
            </a:custGeom>
            <a:solidFill>
              <a:srgbClr val="424242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114300"/>
              <a:ext cx="1912261" cy="79853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633922" y="4783229"/>
            <a:ext cx="11020156" cy="257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1"/>
              </a:lnSpc>
              <a:spcBef>
                <a:spcPct val="0"/>
              </a:spcBef>
            </a:pPr>
            <a:r>
              <a:rPr lang="en-US" sz="14994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ASSIGNMENT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3633922" y="2378756"/>
            <a:ext cx="11020156" cy="25718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991"/>
              </a:lnSpc>
              <a:spcBef>
                <a:spcPct val="0"/>
              </a:spcBef>
            </a:pPr>
            <a:r>
              <a:rPr lang="en-US" sz="14994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DVRT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1032959" y="-2455521"/>
            <a:ext cx="5049982" cy="6172200"/>
          </a:xfrm>
          <a:custGeom>
            <a:avLst/>
            <a:gdLst/>
            <a:ahLst/>
            <a:cxnLst/>
            <a:rect r="r" b="b" t="t" l="l"/>
            <a:pathLst>
              <a:path h="6172200" w="5049982">
                <a:moveTo>
                  <a:pt x="0" y="0"/>
                </a:moveTo>
                <a:lnTo>
                  <a:pt x="5049982" y="0"/>
                </a:lnTo>
                <a:lnTo>
                  <a:pt x="5049982" y="6172200"/>
                </a:lnTo>
                <a:lnTo>
                  <a:pt x="0" y="61722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5030195" y="7090364"/>
            <a:ext cx="4114800" cy="4114800"/>
          </a:xfrm>
          <a:custGeom>
            <a:avLst/>
            <a:gdLst/>
            <a:ahLst/>
            <a:cxnLst/>
            <a:rect r="r" b="b" t="t" l="l"/>
            <a:pathLst>
              <a:path h="4114800" w="4114800">
                <a:moveTo>
                  <a:pt x="0" y="0"/>
                </a:moveTo>
                <a:lnTo>
                  <a:pt x="4114800" y="0"/>
                </a:lnTo>
                <a:lnTo>
                  <a:pt x="411480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7116428" y="7053446"/>
            <a:ext cx="4055144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By : Jayden Tee Rong Qing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864399" y="5949127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73146" y="-1125046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950" y="2849626"/>
            <a:ext cx="8002693" cy="6843667"/>
            <a:chOff x="0" y="0"/>
            <a:chExt cx="2107705" cy="18024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7705" cy="1802447"/>
            </a:xfrm>
            <a:custGeom>
              <a:avLst/>
              <a:gdLst/>
              <a:ahLst/>
              <a:cxnLst/>
              <a:rect r="r" b="b" t="t" l="l"/>
              <a:pathLst>
                <a:path h="1802447" w="2107705">
                  <a:moveTo>
                    <a:pt x="49338" y="0"/>
                  </a:moveTo>
                  <a:lnTo>
                    <a:pt x="2058367" y="0"/>
                  </a:lnTo>
                  <a:cubicBezTo>
                    <a:pt x="2071452" y="0"/>
                    <a:pt x="2084001" y="5198"/>
                    <a:pt x="2093254" y="14451"/>
                  </a:cubicBezTo>
                  <a:cubicBezTo>
                    <a:pt x="2102507" y="23703"/>
                    <a:pt x="2107705" y="36253"/>
                    <a:pt x="2107705" y="49338"/>
                  </a:cubicBezTo>
                  <a:lnTo>
                    <a:pt x="2107705" y="1753109"/>
                  </a:lnTo>
                  <a:cubicBezTo>
                    <a:pt x="2107705" y="1766194"/>
                    <a:pt x="2102507" y="1778744"/>
                    <a:pt x="2093254" y="1787996"/>
                  </a:cubicBezTo>
                  <a:cubicBezTo>
                    <a:pt x="2084001" y="1797249"/>
                    <a:pt x="2071452" y="1802447"/>
                    <a:pt x="2058367" y="1802447"/>
                  </a:cubicBezTo>
                  <a:lnTo>
                    <a:pt x="49338" y="1802447"/>
                  </a:lnTo>
                  <a:cubicBezTo>
                    <a:pt x="36253" y="1802447"/>
                    <a:pt x="23703" y="1797249"/>
                    <a:pt x="14451" y="1787996"/>
                  </a:cubicBezTo>
                  <a:cubicBezTo>
                    <a:pt x="5198" y="1778744"/>
                    <a:pt x="0" y="1766194"/>
                    <a:pt x="0" y="1753109"/>
                  </a:cubicBezTo>
                  <a:lnTo>
                    <a:pt x="0" y="49338"/>
                  </a:lnTo>
                  <a:cubicBezTo>
                    <a:pt x="0" y="36253"/>
                    <a:pt x="5198" y="23703"/>
                    <a:pt x="14451" y="14451"/>
                  </a:cubicBezTo>
                  <a:cubicBezTo>
                    <a:pt x="23703" y="5198"/>
                    <a:pt x="36253" y="0"/>
                    <a:pt x="49338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107705" cy="1916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5022425" y="904875"/>
            <a:ext cx="8243150" cy="109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THE BUSINESS PROBLEM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482329" y="2230929"/>
            <a:ext cx="4371936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Operational Pain Points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6950" y="4175125"/>
            <a:ext cx="7702211" cy="46297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Data Isolation</a:t>
            </a:r>
            <a:r>
              <a:rPr lang="en-US" sz="25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b="true" sz="25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(Silos)</a:t>
            </a:r>
            <a:r>
              <a:rPr lang="en-US" sz="25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Supply data (Stocks) and Demand data (Sales) live in disconnected files.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b="true" sz="25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Manual Latency</a:t>
            </a:r>
            <a:r>
              <a:rPr lang="en-US" sz="25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Management relies on slow, manual cross-referencing (Excel) to match orders with inventory.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5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Reactive vs. Proactive</a:t>
            </a:r>
            <a:r>
              <a:rPr lang="en-US" sz="25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Decisions are made after problems occur, not predicted beforehand.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551775" y="2849626"/>
            <a:ext cx="8115300" cy="6843667"/>
            <a:chOff x="0" y="0"/>
            <a:chExt cx="2137363" cy="18024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7363" cy="1802447"/>
            </a:xfrm>
            <a:custGeom>
              <a:avLst/>
              <a:gdLst/>
              <a:ahLst/>
              <a:cxnLst/>
              <a:rect r="r" b="b" t="t" l="l"/>
              <a:pathLst>
                <a:path h="1802447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1753794"/>
                  </a:lnTo>
                  <a:cubicBezTo>
                    <a:pt x="2137363" y="1780664"/>
                    <a:pt x="2115580" y="1802447"/>
                    <a:pt x="2088710" y="1802447"/>
                  </a:cubicBezTo>
                  <a:lnTo>
                    <a:pt x="48654" y="1802447"/>
                  </a:lnTo>
                  <a:cubicBezTo>
                    <a:pt x="21783" y="1802447"/>
                    <a:pt x="0" y="1780664"/>
                    <a:pt x="0" y="175379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137363" cy="1916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9755662" y="4006027"/>
            <a:ext cx="7707525" cy="4432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Revenue Leakage (Stockouts)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High-demand items go out of stock unnoticed, leading to lost sales.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Capital Lock-up (Aging Inventory)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Cash is tied up in depreciating assets that no one is tracking/delivering.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Customer Churn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Shipping delays caused by inventory "Blind Spots" damage brand loyalty.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Delayed Decision Making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Could result in lost.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417220" y="2230929"/>
            <a:ext cx="4384408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Bu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siness Consequences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864399" y="5949127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73146" y="-1125046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950" y="1848724"/>
            <a:ext cx="4999988" cy="7844568"/>
            <a:chOff x="0" y="0"/>
            <a:chExt cx="1316869" cy="20660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316869" cy="2066059"/>
            </a:xfrm>
            <a:custGeom>
              <a:avLst/>
              <a:gdLst/>
              <a:ahLst/>
              <a:cxnLst/>
              <a:rect r="r" b="b" t="t" l="l"/>
              <a:pathLst>
                <a:path h="2066059" w="1316869">
                  <a:moveTo>
                    <a:pt x="78968" y="0"/>
                  </a:moveTo>
                  <a:lnTo>
                    <a:pt x="1237902" y="0"/>
                  </a:lnTo>
                  <a:cubicBezTo>
                    <a:pt x="1258845" y="0"/>
                    <a:pt x="1278931" y="8320"/>
                    <a:pt x="1293740" y="23129"/>
                  </a:cubicBezTo>
                  <a:cubicBezTo>
                    <a:pt x="1308550" y="37938"/>
                    <a:pt x="1316869" y="58024"/>
                    <a:pt x="1316869" y="78968"/>
                  </a:cubicBezTo>
                  <a:lnTo>
                    <a:pt x="1316869" y="1987091"/>
                  </a:lnTo>
                  <a:cubicBezTo>
                    <a:pt x="1316869" y="2008035"/>
                    <a:pt x="1308550" y="2028121"/>
                    <a:pt x="1293740" y="2042930"/>
                  </a:cubicBezTo>
                  <a:cubicBezTo>
                    <a:pt x="1278931" y="2057739"/>
                    <a:pt x="1258845" y="2066059"/>
                    <a:pt x="1237902" y="2066059"/>
                  </a:cubicBezTo>
                  <a:lnTo>
                    <a:pt x="78968" y="2066059"/>
                  </a:lnTo>
                  <a:cubicBezTo>
                    <a:pt x="58024" y="2066059"/>
                    <a:pt x="37938" y="2057739"/>
                    <a:pt x="23129" y="2042930"/>
                  </a:cubicBezTo>
                  <a:cubicBezTo>
                    <a:pt x="8320" y="2028121"/>
                    <a:pt x="0" y="2008035"/>
                    <a:pt x="0" y="1987091"/>
                  </a:cubicBezTo>
                  <a:lnTo>
                    <a:pt x="0" y="78968"/>
                  </a:lnTo>
                  <a:cubicBezTo>
                    <a:pt x="0" y="58024"/>
                    <a:pt x="8320" y="37938"/>
                    <a:pt x="23129" y="23129"/>
                  </a:cubicBezTo>
                  <a:cubicBezTo>
                    <a:pt x="37938" y="8320"/>
                    <a:pt x="58024" y="0"/>
                    <a:pt x="78968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1316869" cy="2180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670048" y="1848724"/>
            <a:ext cx="4999988" cy="7844568"/>
            <a:chOff x="0" y="0"/>
            <a:chExt cx="1316869" cy="2066059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316869" cy="2066059"/>
            </a:xfrm>
            <a:custGeom>
              <a:avLst/>
              <a:gdLst/>
              <a:ahLst/>
              <a:cxnLst/>
              <a:rect r="r" b="b" t="t" l="l"/>
              <a:pathLst>
                <a:path h="2066059" w="1316869">
                  <a:moveTo>
                    <a:pt x="78968" y="0"/>
                  </a:moveTo>
                  <a:lnTo>
                    <a:pt x="1237902" y="0"/>
                  </a:lnTo>
                  <a:cubicBezTo>
                    <a:pt x="1258845" y="0"/>
                    <a:pt x="1278931" y="8320"/>
                    <a:pt x="1293740" y="23129"/>
                  </a:cubicBezTo>
                  <a:cubicBezTo>
                    <a:pt x="1308550" y="37938"/>
                    <a:pt x="1316869" y="58024"/>
                    <a:pt x="1316869" y="78968"/>
                  </a:cubicBezTo>
                  <a:lnTo>
                    <a:pt x="1316869" y="1987091"/>
                  </a:lnTo>
                  <a:cubicBezTo>
                    <a:pt x="1316869" y="2008035"/>
                    <a:pt x="1308550" y="2028121"/>
                    <a:pt x="1293740" y="2042930"/>
                  </a:cubicBezTo>
                  <a:cubicBezTo>
                    <a:pt x="1278931" y="2057739"/>
                    <a:pt x="1258845" y="2066059"/>
                    <a:pt x="1237902" y="2066059"/>
                  </a:cubicBezTo>
                  <a:lnTo>
                    <a:pt x="78968" y="2066059"/>
                  </a:lnTo>
                  <a:cubicBezTo>
                    <a:pt x="58024" y="2066059"/>
                    <a:pt x="37938" y="2057739"/>
                    <a:pt x="23129" y="2042930"/>
                  </a:cubicBezTo>
                  <a:cubicBezTo>
                    <a:pt x="8320" y="2028121"/>
                    <a:pt x="0" y="2008035"/>
                    <a:pt x="0" y="1987091"/>
                  </a:cubicBezTo>
                  <a:lnTo>
                    <a:pt x="0" y="78968"/>
                  </a:lnTo>
                  <a:cubicBezTo>
                    <a:pt x="0" y="58024"/>
                    <a:pt x="8320" y="37938"/>
                    <a:pt x="23129" y="23129"/>
                  </a:cubicBezTo>
                  <a:cubicBezTo>
                    <a:pt x="37938" y="8320"/>
                    <a:pt x="58024" y="0"/>
                    <a:pt x="78968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114300"/>
              <a:ext cx="1316869" cy="2180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670162" y="1848724"/>
            <a:ext cx="4999988" cy="7844568"/>
            <a:chOff x="0" y="0"/>
            <a:chExt cx="1316869" cy="206605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316869" cy="2066059"/>
            </a:xfrm>
            <a:custGeom>
              <a:avLst/>
              <a:gdLst/>
              <a:ahLst/>
              <a:cxnLst/>
              <a:rect r="r" b="b" t="t" l="l"/>
              <a:pathLst>
                <a:path h="2066059" w="1316869">
                  <a:moveTo>
                    <a:pt x="78968" y="0"/>
                  </a:moveTo>
                  <a:lnTo>
                    <a:pt x="1237902" y="0"/>
                  </a:lnTo>
                  <a:cubicBezTo>
                    <a:pt x="1258845" y="0"/>
                    <a:pt x="1278931" y="8320"/>
                    <a:pt x="1293740" y="23129"/>
                  </a:cubicBezTo>
                  <a:cubicBezTo>
                    <a:pt x="1308550" y="37938"/>
                    <a:pt x="1316869" y="58024"/>
                    <a:pt x="1316869" y="78968"/>
                  </a:cubicBezTo>
                  <a:lnTo>
                    <a:pt x="1316869" y="1987091"/>
                  </a:lnTo>
                  <a:cubicBezTo>
                    <a:pt x="1316869" y="2008035"/>
                    <a:pt x="1308550" y="2028121"/>
                    <a:pt x="1293740" y="2042930"/>
                  </a:cubicBezTo>
                  <a:cubicBezTo>
                    <a:pt x="1278931" y="2057739"/>
                    <a:pt x="1258845" y="2066059"/>
                    <a:pt x="1237902" y="2066059"/>
                  </a:cubicBezTo>
                  <a:lnTo>
                    <a:pt x="78968" y="2066059"/>
                  </a:lnTo>
                  <a:cubicBezTo>
                    <a:pt x="58024" y="2066059"/>
                    <a:pt x="37938" y="2057739"/>
                    <a:pt x="23129" y="2042930"/>
                  </a:cubicBezTo>
                  <a:cubicBezTo>
                    <a:pt x="8320" y="2028121"/>
                    <a:pt x="0" y="2008035"/>
                    <a:pt x="0" y="1987091"/>
                  </a:cubicBezTo>
                  <a:lnTo>
                    <a:pt x="0" y="78968"/>
                  </a:lnTo>
                  <a:cubicBezTo>
                    <a:pt x="0" y="58024"/>
                    <a:pt x="8320" y="37938"/>
                    <a:pt x="23129" y="23129"/>
                  </a:cubicBezTo>
                  <a:cubicBezTo>
                    <a:pt x="37938" y="8320"/>
                    <a:pt x="58024" y="0"/>
                    <a:pt x="78968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1316869" cy="218035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963345" y="2916728"/>
            <a:ext cx="2407199" cy="2407199"/>
          </a:xfrm>
          <a:custGeom>
            <a:avLst/>
            <a:gdLst/>
            <a:ahLst/>
            <a:cxnLst/>
            <a:rect r="r" b="b" t="t" l="l"/>
            <a:pathLst>
              <a:path h="2407199" w="2407199">
                <a:moveTo>
                  <a:pt x="0" y="0"/>
                </a:moveTo>
                <a:lnTo>
                  <a:pt x="2407199" y="0"/>
                </a:lnTo>
                <a:lnTo>
                  <a:pt x="2407199" y="2407199"/>
                </a:lnTo>
                <a:lnTo>
                  <a:pt x="0" y="240719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7942242" y="2868326"/>
            <a:ext cx="2455601" cy="2455601"/>
          </a:xfrm>
          <a:custGeom>
            <a:avLst/>
            <a:gdLst/>
            <a:ahLst/>
            <a:cxnLst/>
            <a:rect r="r" b="b" t="t" l="l"/>
            <a:pathLst>
              <a:path h="2455601" w="2455601">
                <a:moveTo>
                  <a:pt x="0" y="0"/>
                </a:moveTo>
                <a:lnTo>
                  <a:pt x="2455601" y="0"/>
                </a:lnTo>
                <a:lnTo>
                  <a:pt x="2455601" y="2455601"/>
                </a:lnTo>
                <a:lnTo>
                  <a:pt x="0" y="245560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4059420" y="2969835"/>
            <a:ext cx="2419296" cy="2407199"/>
          </a:xfrm>
          <a:custGeom>
            <a:avLst/>
            <a:gdLst/>
            <a:ahLst/>
            <a:cxnLst/>
            <a:rect r="r" b="b" t="t" l="l"/>
            <a:pathLst>
              <a:path h="2407199" w="2419296">
                <a:moveTo>
                  <a:pt x="0" y="0"/>
                </a:moveTo>
                <a:lnTo>
                  <a:pt x="2419296" y="0"/>
                </a:lnTo>
                <a:lnTo>
                  <a:pt x="2419296" y="2407199"/>
                </a:lnTo>
                <a:lnTo>
                  <a:pt x="0" y="240719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6885162" y="5522214"/>
            <a:ext cx="4569761" cy="395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Focus: </a:t>
            </a:r>
            <a:r>
              <a:rPr lang="en-US" sz="220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Territory Performance &amp; Customer Retention.</a:t>
            </a:r>
          </a:p>
          <a:p>
            <a:pPr algn="l">
              <a:lnSpc>
                <a:spcPts val="3080"/>
              </a:lnSpc>
            </a:pP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Example Pain Point: </a:t>
            </a:r>
            <a:r>
              <a:rPr lang="en-US" sz="220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"I’m losing VIP customers in New York because I can't see that the stock they want is sitting in a warehouse in Texas."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17" id="17"/>
          <p:cNvSpPr txBox="true"/>
          <p:nvPr/>
        </p:nvSpPr>
        <p:spPr>
          <a:xfrm rot="0">
            <a:off x="5022425" y="419761"/>
            <a:ext cx="8243150" cy="109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STAKEHOLDERS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2230929"/>
            <a:ext cx="4371936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Chief Operations Officer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82064" y="5522214"/>
            <a:ext cx="4569761" cy="35636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Focus:</a:t>
            </a:r>
            <a:r>
              <a:rPr lang="en-US" sz="220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Profitability &amp; Asset Management.</a:t>
            </a:r>
          </a:p>
          <a:p>
            <a:pPr algn="l">
              <a:lnSpc>
                <a:spcPts val="3080"/>
              </a:lnSpc>
            </a:pP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Example Pain Point: "</a:t>
            </a:r>
            <a:r>
              <a:rPr lang="en-US" sz="220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I have millions tied up in old bikes, but I don't know where they are or which brands actually make money."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984074" y="2230929"/>
            <a:ext cx="4371936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 Regional Manager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083100" y="2230929"/>
            <a:ext cx="4371936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Store Operations Lead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2885276" y="5522214"/>
            <a:ext cx="4569761" cy="3954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Focus: </a:t>
            </a:r>
            <a:r>
              <a:rPr lang="en-US" sz="220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Shelf Availability &amp; Immediate Sales.</a:t>
            </a:r>
          </a:p>
          <a:p>
            <a:pPr algn="l">
              <a:lnSpc>
                <a:spcPts val="3080"/>
              </a:lnSpc>
            </a:pPr>
          </a:p>
          <a:p>
            <a:pPr algn="l" marL="474981" indent="-237491" lvl="1">
              <a:lnSpc>
                <a:spcPts val="3080"/>
              </a:lnSpc>
              <a:buFont typeface="Arial"/>
              <a:buChar char="•"/>
            </a:pPr>
            <a:r>
              <a:rPr lang="en-US" b="true" sz="2200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Example Pain Point: </a:t>
            </a:r>
            <a:r>
              <a:rPr lang="en-US" sz="2200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"I constantly run out of best-sellers before I realize it, forcing me to turn customers away."</a:t>
            </a: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  <a:p>
            <a:pPr algn="l">
              <a:lnSpc>
                <a:spcPts val="308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5838" y="2532554"/>
            <a:ext cx="2141991" cy="2418398"/>
            <a:chOff x="0" y="0"/>
            <a:chExt cx="812800" cy="9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17685"/>
            </a:xfrm>
            <a:custGeom>
              <a:avLst/>
              <a:gdLst/>
              <a:ahLst/>
              <a:cxnLst/>
              <a:rect r="r" b="b" t="t" l="l"/>
              <a:pathLst>
                <a:path h="917685" w="812800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16345" r="0" b="-1634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402085" y="2532554"/>
            <a:ext cx="2141991" cy="2418398"/>
            <a:chOff x="0" y="0"/>
            <a:chExt cx="812800" cy="917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917685"/>
            </a:xfrm>
            <a:custGeom>
              <a:avLst/>
              <a:gdLst/>
              <a:ahLst/>
              <a:cxnLst/>
              <a:rect r="r" b="b" t="t" l="l"/>
              <a:pathLst>
                <a:path h="917685" w="812800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3"/>
              <a:stretch>
                <a:fillRect l="-47541" t="0" r="-47541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-2864399" y="5949127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5838" y="6392498"/>
            <a:ext cx="2141991" cy="2418398"/>
            <a:chOff x="0" y="0"/>
            <a:chExt cx="812800" cy="917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17685"/>
            </a:xfrm>
            <a:custGeom>
              <a:avLst/>
              <a:gdLst/>
              <a:ahLst/>
              <a:cxnLst/>
              <a:rect r="r" b="b" t="t" l="l"/>
              <a:pathLst>
                <a:path h="917685" w="812800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6"/>
              <a:stretch>
                <a:fillRect l="-34731" t="0" r="-34731" b="0"/>
              </a:stretch>
            </a:blipFill>
          </p:spPr>
        </p:sp>
      </p:grpSp>
      <p:sp>
        <p:nvSpPr>
          <p:cNvPr name="Freeform 9" id="9"/>
          <p:cNvSpPr/>
          <p:nvPr/>
        </p:nvSpPr>
        <p:spPr>
          <a:xfrm flipH="false" flipV="false" rot="0">
            <a:off x="12673146" y="-1125046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7315200" y="4950952"/>
            <a:ext cx="3657600" cy="1033272"/>
          </a:xfrm>
          <a:custGeom>
            <a:avLst/>
            <a:gdLst/>
            <a:ahLst/>
            <a:cxnLst/>
            <a:rect r="r" b="b" t="t" l="l"/>
            <a:pathLst>
              <a:path h="1033272" w="3657600">
                <a:moveTo>
                  <a:pt x="0" y="0"/>
                </a:moveTo>
                <a:lnTo>
                  <a:pt x="3657600" y="0"/>
                </a:lnTo>
                <a:lnTo>
                  <a:pt x="3657600" y="1033272"/>
                </a:lnTo>
                <a:lnTo>
                  <a:pt x="0" y="103327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true" rot="-10800000">
            <a:off x="12345905" y="6814773"/>
            <a:ext cx="2858778" cy="2179818"/>
          </a:xfrm>
          <a:custGeom>
            <a:avLst/>
            <a:gdLst/>
            <a:ahLst/>
            <a:cxnLst/>
            <a:rect r="r" b="b" t="t" l="l"/>
            <a:pathLst>
              <a:path h="2179818" w="2858778">
                <a:moveTo>
                  <a:pt x="0" y="2179818"/>
                </a:moveTo>
                <a:lnTo>
                  <a:pt x="2858777" y="2179818"/>
                </a:lnTo>
                <a:lnTo>
                  <a:pt x="2858777" y="0"/>
                </a:lnTo>
                <a:lnTo>
                  <a:pt x="0" y="0"/>
                </a:lnTo>
                <a:lnTo>
                  <a:pt x="0" y="2179818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5022425" y="419761"/>
            <a:ext cx="8243150" cy="109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SOLUTION APPROACH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666843" y="3274648"/>
            <a:ext cx="5849542" cy="1803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Input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9 Raw CSV Files (The Complete Ecosystem).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Action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Standardization.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3926926" y="2418254"/>
            <a:ext cx="5475159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📂Th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 Foundation: Connectivity Layer (Base Views)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587830" y="6700473"/>
            <a:ext cx="8530828" cy="2679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Output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rv_regional_supply_chain. (9 csv)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Action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The </a:t>
            </a: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"Golden Join"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Logic: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Joining </a:t>
            </a: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Supply + Demand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Access: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Deployed as REST Web Service (JSON) for universal consumption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3926926" y="6278198"/>
            <a:ext cx="7146155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🚀 The D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elivery: Publication Layer (Final View)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762779" y="3274648"/>
            <a:ext cx="6163789" cy="3994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Action: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Logical Aggregation &amp; Enrichment.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View A (iv_sales_master)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Enriched </a:t>
            </a: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"Demand"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data with Customer &amp; Staff details.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View B (iv_inventory_status)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: Aggregated </a:t>
            </a: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"Supply"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data with engineered Risk Flags.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11886977" y="2461848"/>
            <a:ext cx="5372323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⚙️ The Core: Integr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ation Layer (Derived Views)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19580" y="1374949"/>
            <a:ext cx="10448841" cy="7385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19"/>
              </a:lnSpc>
              <a:spcBef>
                <a:spcPct val="0"/>
              </a:spcBef>
            </a:pPr>
            <a:r>
              <a:rPr lang="en-US" sz="4299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THE 3-LAYER ARCHITECTURE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445838" y="3086794"/>
            <a:ext cx="2141991" cy="2418398"/>
            <a:chOff x="0" y="0"/>
            <a:chExt cx="812800" cy="91768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917685"/>
            </a:xfrm>
            <a:custGeom>
              <a:avLst/>
              <a:gdLst/>
              <a:ahLst/>
              <a:cxnLst/>
              <a:rect r="r" b="b" t="t" l="l"/>
              <a:pathLst>
                <a:path h="917685" w="812800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2"/>
              <a:stretch>
                <a:fillRect l="-50359" t="0" r="-50359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9859285" y="3086794"/>
            <a:ext cx="2141991" cy="2418398"/>
            <a:chOff x="0" y="0"/>
            <a:chExt cx="812800" cy="917685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2800" cy="917685"/>
            </a:xfrm>
            <a:custGeom>
              <a:avLst/>
              <a:gdLst/>
              <a:ahLst/>
              <a:cxnLst/>
              <a:rect r="r" b="b" t="t" l="l"/>
              <a:pathLst>
                <a:path h="917685" w="812800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3"/>
              <a:stretch>
                <a:fillRect l="-34890" t="0" r="-34890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-5400000">
            <a:off x="-2864399" y="5949127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45838" y="6392498"/>
            <a:ext cx="2141991" cy="2418398"/>
            <a:chOff x="0" y="0"/>
            <a:chExt cx="812800" cy="9176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917685"/>
            </a:xfrm>
            <a:custGeom>
              <a:avLst/>
              <a:gdLst/>
              <a:ahLst/>
              <a:cxnLst/>
              <a:rect r="r" b="b" t="t" l="l"/>
              <a:pathLst>
                <a:path h="917685" w="812800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6"/>
              <a:stretch>
                <a:fillRect l="-34946" t="0" r="-34946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9859285" y="6392498"/>
            <a:ext cx="2141991" cy="2418398"/>
            <a:chOff x="0" y="0"/>
            <a:chExt cx="812800" cy="91768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917685"/>
            </a:xfrm>
            <a:custGeom>
              <a:avLst/>
              <a:gdLst/>
              <a:ahLst/>
              <a:cxnLst/>
              <a:rect r="r" b="b" t="t" l="l"/>
              <a:pathLst>
                <a:path h="917685" w="812800">
                  <a:moveTo>
                    <a:pt x="83130" y="0"/>
                  </a:moveTo>
                  <a:lnTo>
                    <a:pt x="729670" y="0"/>
                  </a:lnTo>
                  <a:cubicBezTo>
                    <a:pt x="751717" y="0"/>
                    <a:pt x="772862" y="8758"/>
                    <a:pt x="788452" y="24348"/>
                  </a:cubicBezTo>
                  <a:cubicBezTo>
                    <a:pt x="804042" y="39938"/>
                    <a:pt x="812800" y="61083"/>
                    <a:pt x="812800" y="83130"/>
                  </a:cubicBezTo>
                  <a:lnTo>
                    <a:pt x="812800" y="834555"/>
                  </a:lnTo>
                  <a:cubicBezTo>
                    <a:pt x="812800" y="880466"/>
                    <a:pt x="775581" y="917685"/>
                    <a:pt x="729670" y="917685"/>
                  </a:cubicBezTo>
                  <a:lnTo>
                    <a:pt x="83130" y="917685"/>
                  </a:lnTo>
                  <a:cubicBezTo>
                    <a:pt x="61083" y="917685"/>
                    <a:pt x="39938" y="908927"/>
                    <a:pt x="24348" y="893337"/>
                  </a:cubicBezTo>
                  <a:cubicBezTo>
                    <a:pt x="8758" y="877747"/>
                    <a:pt x="0" y="856602"/>
                    <a:pt x="0" y="834555"/>
                  </a:cubicBezTo>
                  <a:lnTo>
                    <a:pt x="0" y="83130"/>
                  </a:lnTo>
                  <a:cubicBezTo>
                    <a:pt x="0" y="61083"/>
                    <a:pt x="8758" y="39938"/>
                    <a:pt x="24348" y="24348"/>
                  </a:cubicBezTo>
                  <a:cubicBezTo>
                    <a:pt x="39938" y="8758"/>
                    <a:pt x="61083" y="0"/>
                    <a:pt x="83130" y="0"/>
                  </a:cubicBezTo>
                  <a:close/>
                </a:path>
              </a:pathLst>
            </a:custGeom>
            <a:blipFill>
              <a:blip r:embed="rId7"/>
              <a:stretch>
                <a:fillRect l="-27331" t="0" r="-27331" b="0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2673146" y="-1125046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410763" y="419761"/>
            <a:ext cx="9466474" cy="222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EXPECTED BUSINESS BENEFITS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926926" y="3701792"/>
            <a:ext cx="4631429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Instant access to inventory positions, eliminating the need to cross reference.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26926" y="2972494"/>
            <a:ext cx="4631429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Spee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 to Insight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26926" y="7007495"/>
            <a:ext cx="4384408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Instant identification of old/unused models for liquidation.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926926" y="6278198"/>
            <a:ext cx="4384408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Cap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ital Efficiency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57753" y="3701792"/>
            <a:ext cx="4384408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Automated alerts for "Critical" stock levels prevent lost sales.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457753" y="2972494"/>
            <a:ext cx="4384408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I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nventory Health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457753" y="7007495"/>
            <a:ext cx="4384408" cy="136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Single Source of Truth (rv_regional_supply_chain) for all depts.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457753" y="6278198"/>
            <a:ext cx="4384408" cy="48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Deci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sion Making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0942" y="6832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3722" y="614231"/>
            <a:ext cx="1406157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QUESTION 1: HOW DOES INVENTORY SUFFICIENCY CORRELATE WITH REGIONAL SALES PERFORMANCE?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002285" y="2644023"/>
            <a:ext cx="9979888" cy="706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 Stakeholder: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🗺️ Regional Supply Chain Manager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Statistic: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New York (Baldwin Store) generates the highest demand (4,779 units sold) but holds the lowest inventory (4,359 units).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In contrast, Texas sells only 783 units but hoards 4,620 units of stock.</a:t>
            </a:r>
          </a:p>
          <a:p>
            <a:pPr algn="just">
              <a:lnSpc>
                <a:spcPts val="3499"/>
              </a:lnSpc>
            </a:pPr>
          </a:p>
          <a:p>
            <a:pPr algn="just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Action: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Immediate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: Initiate an Inter-Store Transfer to move 1,000 units from the Texas warehouse to the New York store.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Long-term: 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Adjust the automated replenishment logic to allocate stock based on sales velocity rather than equal distribution.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622681" y="1563717"/>
            <a:ext cx="8546011" cy="933611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0942" y="6832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853722" y="614231"/>
            <a:ext cx="14061571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QUESTION 2: WHICH PRODUCTS FACE THE HIGHEST RISK OF "STOCKOUT"?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28110" y="1496955"/>
            <a:ext cx="10514702" cy="9226461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910367" y="2963219"/>
            <a:ext cx="8838173" cy="5746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 Stakeholder: 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🏪 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Store Operations Lead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Statistic: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Cy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clocross Bicycles have a Risk Ratio of 0.95, meaning for every 100 bikes in stock, 95 are sold immediately.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This is dangerously close to 1.0 (Zero Stock).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Action: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Safety Stock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: Increase the minimum "Safety Stock" threshold for this specific category by 20% to buffer against demand spikes.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0942" y="6832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75243" y="384175"/>
            <a:ext cx="16137515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QUESTION 3: WHAT IS THE VOLUME OF "AGING INVENTORY" ACROSS REGIONS?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624399" y="1551199"/>
            <a:ext cx="9977936" cy="9233014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36226" y="2579957"/>
            <a:ext cx="8838173" cy="706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 Stakeholder: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👔 Chief Operating Officer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Statistic: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The company is holding 1,046 units of obsolete 2016 models.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Texas (Rowlett) is the worst offender, holding 437 of these obsolete units despite having the lowest foot traffic.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Action: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Liquidation Event: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Launch a targeted "Texan Clearance Sale" offering aggressive 30-40% discounts on 2016 models specifically in the Rowlett store to convert this dead stock into cash.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0942" y="6832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315299" y="384175"/>
            <a:ext cx="17212557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  <a:spcBef>
                <a:spcPct val="0"/>
              </a:spcBef>
            </a:pPr>
            <a:r>
              <a:rPr lang="en-US" sz="5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QUESTION 4: HOW ARE HIGH-VALUE CUSTOMERS DISTRIBUTED VS. INVENTORY?</a:t>
            </a:r>
          </a:p>
        </p:txBody>
      </p: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879303" y="1263822"/>
            <a:ext cx="10551630" cy="10001949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921577" y="2312740"/>
            <a:ext cx="8838173" cy="706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 Stakeholder: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🗺️ Regional Supply Chain Manager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Statistic: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70% of the entire customer base lives in New York (1,019 customers).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H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owever, the New York store holds less than 33% of the total company inventory.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Action: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Strategic Realignment: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The Supply Chain network is unbalanced. We must prioritize the New York Hub as the "Primary Distribution Center", ensuring it always receives 60-70% of inbound shipments from manufacturers to match the customer density.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174586" y="847744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8"/>
                </a:lnTo>
                <a:lnTo>
                  <a:pt x="0" y="36191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10942" y="68326"/>
            <a:ext cx="3777058" cy="3619109"/>
          </a:xfrm>
          <a:custGeom>
            <a:avLst/>
            <a:gdLst/>
            <a:ahLst/>
            <a:cxnLst/>
            <a:rect r="r" b="b" t="t" l="l"/>
            <a:pathLst>
              <a:path h="3619109" w="3777058">
                <a:moveTo>
                  <a:pt x="0" y="0"/>
                </a:moveTo>
                <a:lnTo>
                  <a:pt x="3777058" y="0"/>
                </a:lnTo>
                <a:lnTo>
                  <a:pt x="3777058" y="3619109"/>
                </a:lnTo>
                <a:lnTo>
                  <a:pt x="0" y="361910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028700" y="384175"/>
            <a:ext cx="16230600" cy="2971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000"/>
              </a:lnSpc>
            </a:pPr>
            <a:r>
              <a:rPr lang="en-US" sz="5000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QUESTION 5: WHICH BRANDS DEMONSTRATE THE HIGHEST "TURNOVER EFFICIENCY"?</a:t>
            </a:r>
          </a:p>
          <a:p>
            <a:pPr algn="ctr">
              <a:lnSpc>
                <a:spcPts val="979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8238898" y="2605886"/>
            <a:ext cx="9275550" cy="70612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Target Stakeholder: </a:t>
            </a:r>
          </a:p>
          <a:p>
            <a:pPr algn="l">
              <a:lnSpc>
                <a:spcPts val="3499"/>
              </a:lnSpc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👔 Chief Operations Officer 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Statistic: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Pure Cycles is an efficiency star with a turnover of 3.6x (sales far exceed standing stock).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Surly is a laggard with a turnover of 0.82x (more stock sitting than selling).</a:t>
            </a:r>
          </a:p>
          <a:p>
            <a:pPr algn="l">
              <a:lnSpc>
                <a:spcPts val="3499"/>
              </a:lnSpc>
            </a:pP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The Action: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Shelf Space Optimization: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Double the shelf space allocated to Pure Cycles to capture more revenue.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b="true" sz="2499">
                <a:solidFill>
                  <a:srgbClr val="000000"/>
                </a:solidFill>
                <a:latin typeface="Agrandir Bold"/>
                <a:ea typeface="Agrandir Bold"/>
                <a:cs typeface="Agrandir Bold"/>
                <a:sym typeface="Agrandir Bold"/>
              </a:rPr>
              <a:t>Renegotiate:</a:t>
            </a:r>
            <a:r>
              <a:rPr lang="en-US" sz="2499">
                <a:solidFill>
                  <a:srgbClr val="000000"/>
                </a:solidFill>
                <a:latin typeface="Agrandir"/>
                <a:ea typeface="Agrandir"/>
                <a:cs typeface="Agrandir"/>
                <a:sym typeface="Agrandir"/>
              </a:rPr>
              <a:t> Reduce future orders for Surly products or negotiate "Return-to-Vendor" agreements for unsold inventory to free up warehouse space.</a:t>
            </a:r>
          </a:p>
          <a:p>
            <a:pPr algn="just">
              <a:lnSpc>
                <a:spcPts val="3499"/>
              </a:lnSpc>
              <a:spcBef>
                <a:spcPct val="0"/>
              </a:spcBef>
            </a:pPr>
          </a:p>
        </p:txBody>
      </p:sp>
      <p:pic>
        <p:nvPicPr>
          <p:cNvPr name="Picture 6" id="6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-75789" y="2149657"/>
            <a:ext cx="8403299" cy="80413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4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5400000">
            <a:off x="-2864399" y="5949127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2673146" y="-1125046"/>
            <a:ext cx="7315200" cy="3657600"/>
          </a:xfrm>
          <a:custGeom>
            <a:avLst/>
            <a:gdLst/>
            <a:ahLst/>
            <a:cxnLst/>
            <a:rect r="r" b="b" t="t" l="l"/>
            <a:pathLst>
              <a:path h="3657600" w="7315200">
                <a:moveTo>
                  <a:pt x="0" y="0"/>
                </a:moveTo>
                <a:lnTo>
                  <a:pt x="7315200" y="0"/>
                </a:lnTo>
                <a:lnTo>
                  <a:pt x="7315200" y="3657600"/>
                </a:lnTo>
                <a:lnTo>
                  <a:pt x="0" y="36576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666950" y="2849626"/>
            <a:ext cx="8002693" cy="6843667"/>
            <a:chOff x="0" y="0"/>
            <a:chExt cx="2107705" cy="180244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07705" cy="1802447"/>
            </a:xfrm>
            <a:custGeom>
              <a:avLst/>
              <a:gdLst/>
              <a:ahLst/>
              <a:cxnLst/>
              <a:rect r="r" b="b" t="t" l="l"/>
              <a:pathLst>
                <a:path h="1802447" w="2107705">
                  <a:moveTo>
                    <a:pt x="49338" y="0"/>
                  </a:moveTo>
                  <a:lnTo>
                    <a:pt x="2058367" y="0"/>
                  </a:lnTo>
                  <a:cubicBezTo>
                    <a:pt x="2071452" y="0"/>
                    <a:pt x="2084001" y="5198"/>
                    <a:pt x="2093254" y="14451"/>
                  </a:cubicBezTo>
                  <a:cubicBezTo>
                    <a:pt x="2102507" y="23703"/>
                    <a:pt x="2107705" y="36253"/>
                    <a:pt x="2107705" y="49338"/>
                  </a:cubicBezTo>
                  <a:lnTo>
                    <a:pt x="2107705" y="1753109"/>
                  </a:lnTo>
                  <a:cubicBezTo>
                    <a:pt x="2107705" y="1766194"/>
                    <a:pt x="2102507" y="1778744"/>
                    <a:pt x="2093254" y="1787996"/>
                  </a:cubicBezTo>
                  <a:cubicBezTo>
                    <a:pt x="2084001" y="1797249"/>
                    <a:pt x="2071452" y="1802447"/>
                    <a:pt x="2058367" y="1802447"/>
                  </a:cubicBezTo>
                  <a:lnTo>
                    <a:pt x="49338" y="1802447"/>
                  </a:lnTo>
                  <a:cubicBezTo>
                    <a:pt x="36253" y="1802447"/>
                    <a:pt x="23703" y="1797249"/>
                    <a:pt x="14451" y="1787996"/>
                  </a:cubicBezTo>
                  <a:cubicBezTo>
                    <a:pt x="5198" y="1778744"/>
                    <a:pt x="0" y="1766194"/>
                    <a:pt x="0" y="1753109"/>
                  </a:cubicBezTo>
                  <a:lnTo>
                    <a:pt x="0" y="49338"/>
                  </a:lnTo>
                  <a:cubicBezTo>
                    <a:pt x="0" y="36253"/>
                    <a:pt x="5198" y="23703"/>
                    <a:pt x="14451" y="14451"/>
                  </a:cubicBezTo>
                  <a:cubicBezTo>
                    <a:pt x="23703" y="5198"/>
                    <a:pt x="36253" y="0"/>
                    <a:pt x="49338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14300"/>
              <a:ext cx="2107705" cy="1916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3025562" y="579929"/>
            <a:ext cx="12236875" cy="10940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97"/>
              </a:lnSpc>
              <a:spcBef>
                <a:spcPct val="0"/>
              </a:spcBef>
            </a:pPr>
            <a:r>
              <a:rPr lang="en-US" sz="6427">
                <a:solidFill>
                  <a:srgbClr val="424242"/>
                </a:solidFill>
                <a:latin typeface="Maragsa"/>
                <a:ea typeface="Maragsa"/>
                <a:cs typeface="Maragsa"/>
                <a:sym typeface="Maragsa"/>
              </a:rPr>
              <a:t>WHAT ARE MY RECOMMENDATION?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11624" y="1824529"/>
            <a:ext cx="4371936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Short-Term Wins (Next 30 Days)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17191" y="4123254"/>
            <a:ext cx="7702211" cy="4172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🚀 Immediate Inventory Rebalancing</a:t>
            </a:r>
          </a:p>
          <a:p>
            <a:pPr algn="l" marL="561339" indent="-280669" lvl="1">
              <a:lnSpc>
                <a:spcPts val="3639"/>
              </a:lnSpc>
              <a:buFont typeface="Arial"/>
              <a:buChar char="•"/>
            </a:pPr>
            <a:r>
              <a:rPr lang="en-US" sz="25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Transfer some of the units from TX (Overstocked) to NY (Stockouts) to capture immediate sales. </a:t>
            </a:r>
          </a:p>
          <a:p>
            <a:pPr algn="l">
              <a:lnSpc>
                <a:spcPts val="3639"/>
              </a:lnSpc>
            </a:pPr>
            <a:r>
              <a:rPr lang="en-US" sz="2599" b="tru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💸 </a:t>
            </a:r>
            <a:r>
              <a:rPr lang="en-US" sz="2599" b="tru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Liquidate "Dead Stock"</a:t>
            </a:r>
          </a:p>
          <a:p>
            <a:pPr algn="l" marL="561339" indent="-280669" lvl="1">
              <a:lnSpc>
                <a:spcPts val="3639"/>
              </a:lnSpc>
              <a:spcBef>
                <a:spcPct val="0"/>
              </a:spcBef>
              <a:buFont typeface="Arial"/>
              <a:buChar char="•"/>
            </a:pPr>
            <a:r>
              <a:rPr lang="en-US" sz="25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Launch a clearance sale on 2016 models in Texas to unlock so as to clear stock while earning profit</a:t>
            </a:r>
          </a:p>
          <a:p>
            <a:pPr algn="l">
              <a:lnSpc>
                <a:spcPts val="3639"/>
              </a:lnSpc>
              <a:spcBef>
                <a:spcPct val="0"/>
              </a:spcBef>
            </a:pPr>
          </a:p>
        </p:txBody>
      </p:sp>
      <p:grpSp>
        <p:nvGrpSpPr>
          <p:cNvPr name="Group 10" id="10"/>
          <p:cNvGrpSpPr/>
          <p:nvPr/>
        </p:nvGrpSpPr>
        <p:grpSpPr>
          <a:xfrm rot="0">
            <a:off x="9551775" y="2849626"/>
            <a:ext cx="8115300" cy="6843667"/>
            <a:chOff x="0" y="0"/>
            <a:chExt cx="2137363" cy="18024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37363" cy="1802447"/>
            </a:xfrm>
            <a:custGeom>
              <a:avLst/>
              <a:gdLst/>
              <a:ahLst/>
              <a:cxnLst/>
              <a:rect r="r" b="b" t="t" l="l"/>
              <a:pathLst>
                <a:path h="1802447" w="2137363">
                  <a:moveTo>
                    <a:pt x="48654" y="0"/>
                  </a:moveTo>
                  <a:lnTo>
                    <a:pt x="2088710" y="0"/>
                  </a:lnTo>
                  <a:cubicBezTo>
                    <a:pt x="2115580" y="0"/>
                    <a:pt x="2137363" y="21783"/>
                    <a:pt x="2137363" y="48654"/>
                  </a:cubicBezTo>
                  <a:lnTo>
                    <a:pt x="2137363" y="1753794"/>
                  </a:lnTo>
                  <a:cubicBezTo>
                    <a:pt x="2137363" y="1780664"/>
                    <a:pt x="2115580" y="1802447"/>
                    <a:pt x="2088710" y="1802447"/>
                  </a:cubicBezTo>
                  <a:lnTo>
                    <a:pt x="48654" y="1802447"/>
                  </a:lnTo>
                  <a:cubicBezTo>
                    <a:pt x="21783" y="1802447"/>
                    <a:pt x="0" y="1780664"/>
                    <a:pt x="0" y="1753794"/>
                  </a:cubicBezTo>
                  <a:lnTo>
                    <a:pt x="0" y="48654"/>
                  </a:lnTo>
                  <a:cubicBezTo>
                    <a:pt x="0" y="21783"/>
                    <a:pt x="21783" y="0"/>
                    <a:pt x="48654" y="0"/>
                  </a:cubicBezTo>
                  <a:close/>
                </a:path>
              </a:pathLst>
            </a:custGeom>
            <a:solidFill>
              <a:srgbClr val="E9E9E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114300"/>
              <a:ext cx="2137363" cy="191674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49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0033690" y="4655384"/>
            <a:ext cx="7151469" cy="3117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🧠 Data-Driven Procurement Model</a:t>
            </a:r>
          </a:p>
          <a:p>
            <a:pPr algn="l" marL="539749" indent="-269875" lvl="1">
              <a:lnSpc>
                <a:spcPts val="3499"/>
              </a:lnSpc>
              <a:buFont typeface="Arial"/>
              <a:buChar char="•"/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Maximizes shelf space 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and p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reve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nts f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uture accumulatio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n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of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 stagnant inventory.</a:t>
            </a:r>
          </a:p>
          <a:p>
            <a:pPr algn="l">
              <a:lnSpc>
                <a:spcPts val="3499"/>
              </a:lnSpc>
            </a:pPr>
            <a:r>
              <a:rPr lang="en-US" sz="2499" b="tru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📍 Network Redesign </a:t>
            </a:r>
          </a:p>
          <a:p>
            <a:pPr algn="l" marL="539749" indent="-269875" lvl="1">
              <a:lnSpc>
                <a:spcPts val="3499"/>
              </a:lnSpc>
              <a:spcBef>
                <a:spcPct val="0"/>
              </a:spcBef>
              <a:buFont typeface="Arial"/>
              <a:buChar char="•"/>
            </a:pP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D</a:t>
            </a:r>
            <a:r>
              <a:rPr lang="en-US" sz="2499">
                <a:solidFill>
                  <a:srgbClr val="424242"/>
                </a:solidFill>
                <a:latin typeface="Agrandir"/>
                <a:ea typeface="Agrandir"/>
                <a:cs typeface="Agrandir"/>
                <a:sym typeface="Agrandir"/>
              </a:rPr>
              <a:t>esignate New York as the Primary Hub the high customer density.</a:t>
            </a:r>
          </a:p>
          <a:p>
            <a:pPr algn="l">
              <a:lnSpc>
                <a:spcPts val="349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1417220" y="1741103"/>
            <a:ext cx="4384408" cy="92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499"/>
              </a:lnSpc>
              <a:spcBef>
                <a:spcPct val="0"/>
              </a:spcBef>
            </a:pPr>
            <a:r>
              <a:rPr lang="en-US" b="true" sz="2499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Long-Term Strat</a:t>
            </a:r>
            <a:r>
              <a:rPr lang="en-US" b="true" sz="2499" strike="noStrike" u="none">
                <a:solidFill>
                  <a:srgbClr val="424242"/>
                </a:solidFill>
                <a:latin typeface="Agrandir Bold"/>
                <a:ea typeface="Agrandir Bold"/>
                <a:cs typeface="Agrandir Bold"/>
                <a:sym typeface="Agrandir Bold"/>
              </a:rPr>
              <a:t>egy (Next 6-12 Months)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4242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857035" y="1636614"/>
            <a:ext cx="6697269" cy="6660739"/>
          </a:xfrm>
          <a:custGeom>
            <a:avLst/>
            <a:gdLst/>
            <a:ahLst/>
            <a:cxnLst/>
            <a:rect r="r" b="b" t="t" l="l"/>
            <a:pathLst>
              <a:path h="6660739" w="6697269">
                <a:moveTo>
                  <a:pt x="0" y="0"/>
                </a:moveTo>
                <a:lnTo>
                  <a:pt x="6697270" y="0"/>
                </a:lnTo>
                <a:lnTo>
                  <a:pt x="6697270" y="6660739"/>
                </a:lnTo>
                <a:lnTo>
                  <a:pt x="0" y="66607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3830038" y="3731333"/>
            <a:ext cx="10627924" cy="25711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32"/>
              </a:lnSpc>
              <a:spcBef>
                <a:spcPct val="0"/>
              </a:spcBef>
            </a:pPr>
            <a:r>
              <a:rPr lang="en-US" sz="15023">
                <a:solidFill>
                  <a:srgbClr val="F8F4EB"/>
                </a:solidFill>
                <a:latin typeface="Maragsa"/>
                <a:ea typeface="Maragsa"/>
                <a:cs typeface="Maragsa"/>
                <a:sym typeface="Maragsa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DAHAEtSFLiQ</dc:identifier>
  <dcterms:modified xsi:type="dcterms:W3CDTF">2011-08-01T06:04:30Z</dcterms:modified>
  <cp:revision>1</cp:revision>
  <dc:title>Cream and Beige Simple Clean Project Overview Presentation</dc:title>
</cp:coreProperties>
</file>